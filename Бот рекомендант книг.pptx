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1" r:id="rId2"/>
    <p:sldId id="262" r:id="rId3"/>
    <p:sldId id="265" r:id="rId4"/>
    <p:sldId id="263" r:id="rId5"/>
    <p:sldId id="266" r:id="rId6"/>
    <p:sldId id="264" r:id="rId7"/>
    <p:sldId id="267" r:id="rId8"/>
    <p:sldId id="268" r:id="rId9"/>
    <p:sldId id="269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2" userDrawn="1">
          <p15:clr>
            <a:srgbClr val="A4A3A4"/>
          </p15:clr>
        </p15:guide>
        <p15:guide id="3" pos="143" userDrawn="1">
          <p15:clr>
            <a:srgbClr val="A4A3A4"/>
          </p15:clr>
        </p15:guide>
        <p15:guide id="4" pos="7559" userDrawn="1">
          <p15:clr>
            <a:srgbClr val="A4A3A4"/>
          </p15:clr>
        </p15:guide>
        <p15:guide id="5" pos="257" userDrawn="1">
          <p15:clr>
            <a:srgbClr val="A4A3A4"/>
          </p15:clr>
        </p15:guide>
        <p15:guide id="6" pos="2366" userDrawn="1">
          <p15:clr>
            <a:srgbClr val="A4A3A4"/>
          </p15:clr>
        </p15:guide>
        <p15:guide id="7" orient="horz" pos="41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D25BA"/>
    <a:srgbClr val="FBA2FE"/>
    <a:srgbClr val="2E1050"/>
    <a:srgbClr val="22263A"/>
    <a:srgbClr val="FF8C8C"/>
    <a:srgbClr val="FDE23F"/>
    <a:srgbClr val="D7DADC"/>
    <a:srgbClr val="C00000"/>
    <a:srgbClr val="E27405"/>
    <a:srgbClr val="FDD8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6" autoAdjust="0"/>
    <p:restoredTop sz="94660"/>
  </p:normalViewPr>
  <p:slideViewPr>
    <p:cSldViewPr snapToGrid="0" showGuides="1">
      <p:cViewPr varScale="1">
        <p:scale>
          <a:sx n="86" d="100"/>
          <a:sy n="86" d="100"/>
        </p:scale>
        <p:origin x="470" y="48"/>
      </p:cViewPr>
      <p:guideLst>
        <p:guide orient="horz" pos="142"/>
        <p:guide pos="143"/>
        <p:guide pos="7559"/>
        <p:guide pos="257"/>
        <p:guide pos="2366"/>
        <p:guide orient="horz" pos="417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AC1864-4E91-46C3-8BEF-4F9259906A93}" type="datetimeFigureOut">
              <a:rPr lang="ru-RU" smtClean="0"/>
              <a:t>19.04.2025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E9C707-482C-4A5E-97E9-5C1B57166A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7210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E50D33-E06F-4784-8494-AE16E260E8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D8F57BD-378B-4410-BEB7-198956D3FD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2E8607-20ED-4D7F-93D2-598F8EECD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DE1BE-6851-4D7D-9F4C-EF6B6519B971}" type="datetimeFigureOut">
              <a:rPr lang="ru-RU" smtClean="0"/>
              <a:t>19.04.2025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71FA161-38D9-419F-BFE6-A476DA1D5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C06C90-5051-4F48-AC9C-EE4016B2D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94051-D8E5-4DFC-9506-54447EA029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7514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42D3F4-2E0D-48A6-B636-FF608ADC0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9A69C9-4638-4C1A-84E5-3AE5C8E63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86E0A3-6043-491D-B68F-7275D58E1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DE1BE-6851-4D7D-9F4C-EF6B6519B971}" type="datetimeFigureOut">
              <a:rPr lang="ru-RU" smtClean="0"/>
              <a:t>19.04.2025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1FC9CE2-E704-4C0C-AE62-93F674914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C3226B1-BC4D-4BC4-8EA4-5B8C1DE1E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94051-D8E5-4DFC-9506-54447EA029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2924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182E1E-A5EB-4349-9F74-85428C821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387E793-989A-43DC-B3F4-97AC52B7A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1CCED8D-45BE-4382-9CF2-2705F6730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DE1BE-6851-4D7D-9F4C-EF6B6519B971}" type="datetimeFigureOut">
              <a:rPr lang="ru-RU" smtClean="0"/>
              <a:t>19.04.2025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1441D8-B051-44AE-BBB6-64FB70378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8EE7F9-FD86-467B-9CC8-D5D90565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94051-D8E5-4DFC-9506-54447EA029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5097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1A62E7-5203-4A8A-B6B4-63693B840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308DCF-E04F-44B8-A59D-2E31059BC9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3B8D20D-4458-48B5-B30C-A9F1E66A9B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688450A-6217-4418-BAE0-9D899EC3C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DE1BE-6851-4D7D-9F4C-EF6B6519B971}" type="datetimeFigureOut">
              <a:rPr lang="ru-RU" smtClean="0"/>
              <a:t>19.04.2025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E088757-18DA-4A8F-8002-48F022DA3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7BD9D2D-29C5-44AE-AC5F-543E48E9F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94051-D8E5-4DFC-9506-54447EA029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0444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E90BFB-5BC6-490F-88DE-CDED5D502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55A66AF-0ED8-4CDB-BE85-4785FEA19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40F214B-728E-4CFA-AB63-4C846E5D6B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C2474B7-08D6-40E4-8EB5-8F6C23623B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37C9237-4E1A-4CCC-BCBA-45EE0C8E66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B4BCFEF-E1DC-4E9E-8A01-628FF5EC8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DE1BE-6851-4D7D-9F4C-EF6B6519B971}" type="datetimeFigureOut">
              <a:rPr lang="ru-RU" smtClean="0"/>
              <a:t>19.04.2025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2DBF264-3F46-425B-9E7A-24EB5E0E0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743F386-48D0-4CF4-9222-C40EBE22F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94051-D8E5-4DFC-9506-54447EA029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7751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B73FA8-849D-4B7A-B0EF-51E5EDECC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DA85F3A-D9F5-4490-A744-1FB424398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DE1BE-6851-4D7D-9F4C-EF6B6519B971}" type="datetimeFigureOut">
              <a:rPr lang="ru-RU" smtClean="0"/>
              <a:t>19.04.2025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5F9E6A-EF10-4F18-8FB9-D3C9471FA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5018357-A7B0-4F95-B0BF-8450BD3D6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94051-D8E5-4DFC-9506-54447EA029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4191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3DB1B0C-02F7-4056-AF25-DBE2610C3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DE1BE-6851-4D7D-9F4C-EF6B6519B971}" type="datetimeFigureOut">
              <a:rPr lang="ru-RU" smtClean="0"/>
              <a:t>19.04.2025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9C2B8D3-BC1D-4F92-9FF9-A10F3C51D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E1959CB-2D73-4066-A23E-C6C811062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94051-D8E5-4DFC-9506-54447EA029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1768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66099D-0013-45E7-9A8D-8981249C1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C3284C-73CC-4690-AF2F-E75D0E6BE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33185C8-930E-4E99-B080-39A9004CB2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D8907C2-19B4-43B8-9F9B-4E3AE3F8D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DE1BE-6851-4D7D-9F4C-EF6B6519B971}" type="datetimeFigureOut">
              <a:rPr lang="ru-RU" smtClean="0"/>
              <a:t>19.04.2025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FEDD447-C466-45E0-9BB7-94706DEEB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3F7EEF-C596-49FC-8AEB-B2DE4F2DE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94051-D8E5-4DFC-9506-54447EA029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0816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8D9C3E-C9A4-4D4B-A8E5-7DB45DC03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21196F2-C6C7-484F-A8F5-DA281CADDB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68FCEB0-B2B0-4D3E-9E95-F1CD46BD12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913E2C5-7705-4667-AC17-977D4D024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DE1BE-6851-4D7D-9F4C-EF6B6519B971}" type="datetimeFigureOut">
              <a:rPr lang="ru-RU" smtClean="0"/>
              <a:t>19.04.2025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263EDB9-533A-43AC-A41D-099FCA39E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B846B12-6243-4D62-AEF6-ACAA28A34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94051-D8E5-4DFC-9506-54447EA029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1829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FF7B3E-2A73-4D39-81B5-190E859EB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D712304-5EAC-4455-9300-8C9C594A65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177232-10E4-4415-9B39-B1E54B89E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DE1BE-6851-4D7D-9F4C-EF6B6519B971}" type="datetimeFigureOut">
              <a:rPr lang="ru-RU" smtClean="0"/>
              <a:t>19.04.2025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E66869B-9BA5-4B03-B0B4-F0C78EA22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C083A78-F601-45C6-BB74-B58ADE70C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94051-D8E5-4DFC-9506-54447EA029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1408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B7F1B1C-EA03-4E0C-A498-C9A108089C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42FE846-39C9-48E7-8334-7F41D5F718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F12F81-D6E3-49BE-8414-CDCC6CFED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DE1BE-6851-4D7D-9F4C-EF6B6519B971}" type="datetimeFigureOut">
              <a:rPr lang="ru-RU" smtClean="0"/>
              <a:t>19.04.2025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92A634A-E2BC-4296-877A-F6C283D45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8B6432-5823-4DA7-979B-164242793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94051-D8E5-4DFC-9506-54447EA029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7620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B24E0A-F0AB-4345-B544-B70FBD1E7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F08ADC0-D837-488C-A6AB-16E0F1CC48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6185C2-4121-4DA4-B7B4-6D5A9C472C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8DE1BE-6851-4D7D-9F4C-EF6B6519B971}" type="datetimeFigureOut">
              <a:rPr lang="ru-RU" smtClean="0"/>
              <a:t>19.04.2025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187871-7A90-4718-AD71-7FAE87683D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6DEB4C-D5E1-48C2-BD78-46803D6176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C94051-D8E5-4DFC-9506-54447EA029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8623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C33869C-E3C1-4043-B1DC-060DBB94390C}"/>
              </a:ext>
            </a:extLst>
          </p:cNvPr>
          <p:cNvSpPr/>
          <p:nvPr/>
        </p:nvSpPr>
        <p:spPr>
          <a:xfrm>
            <a:off x="2626092" y="1980602"/>
            <a:ext cx="6939815" cy="2234272"/>
          </a:xfrm>
          <a:prstGeom prst="rect">
            <a:avLst/>
          </a:prstGeom>
          <a:solidFill>
            <a:srgbClr val="5D25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4FFCEF3-A6AE-4960-8C62-F72B1CF309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1705922" y="0"/>
            <a:ext cx="486078" cy="689674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E8D75FB-C46C-4940-A70E-A970F419BB3C}"/>
              </a:ext>
            </a:extLst>
          </p:cNvPr>
          <p:cNvSpPr txBox="1"/>
          <p:nvPr/>
        </p:nvSpPr>
        <p:spPr>
          <a:xfrm>
            <a:off x="2570524" y="5007791"/>
            <a:ext cx="699538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5D25BA"/>
                </a:solidFill>
              </a:rPr>
              <a:t>Авторы: Хуснутдинова Д., </a:t>
            </a:r>
            <a:r>
              <a:rPr lang="ru-RU" dirty="0" err="1">
                <a:solidFill>
                  <a:srgbClr val="5D25BA"/>
                </a:solidFill>
              </a:rPr>
              <a:t>ВШМОиМИ</a:t>
            </a:r>
            <a:r>
              <a:rPr lang="ru-RU" dirty="0">
                <a:solidFill>
                  <a:srgbClr val="5D25BA"/>
                </a:solidFill>
              </a:rPr>
              <a:t> </a:t>
            </a:r>
            <a:r>
              <a:rPr lang="ru-RU" dirty="0" err="1">
                <a:solidFill>
                  <a:srgbClr val="5D25BA"/>
                </a:solidFill>
              </a:rPr>
              <a:t>ИМОИиВ</a:t>
            </a:r>
            <a:r>
              <a:rPr lang="ru-RU" dirty="0">
                <a:solidFill>
                  <a:srgbClr val="5D25BA"/>
                </a:solidFill>
              </a:rPr>
              <a:t>, гр. 04.2-110, Александрова Э., </a:t>
            </a:r>
            <a:r>
              <a:rPr lang="ru-RU" dirty="0" err="1">
                <a:solidFill>
                  <a:srgbClr val="5D25BA"/>
                </a:solidFill>
              </a:rPr>
              <a:t>ВШМОиМИ</a:t>
            </a:r>
            <a:r>
              <a:rPr lang="ru-RU" dirty="0">
                <a:solidFill>
                  <a:srgbClr val="5D25BA"/>
                </a:solidFill>
              </a:rPr>
              <a:t> </a:t>
            </a:r>
            <a:r>
              <a:rPr lang="ru-RU" dirty="0" err="1">
                <a:solidFill>
                  <a:srgbClr val="5D25BA"/>
                </a:solidFill>
              </a:rPr>
              <a:t>ИМОИиВ</a:t>
            </a:r>
            <a:r>
              <a:rPr lang="ru-RU" dirty="0">
                <a:solidFill>
                  <a:srgbClr val="5D25BA"/>
                </a:solidFill>
              </a:rPr>
              <a:t>, гр. 04.2-110, </a:t>
            </a:r>
            <a:r>
              <a:rPr lang="ru-RU" dirty="0" err="1">
                <a:solidFill>
                  <a:srgbClr val="5D25BA"/>
                </a:solidFill>
              </a:rPr>
              <a:t>Ерназарова</a:t>
            </a:r>
            <a:r>
              <a:rPr lang="ru-RU" dirty="0">
                <a:solidFill>
                  <a:srgbClr val="5D25BA"/>
                </a:solidFill>
              </a:rPr>
              <a:t> Р., </a:t>
            </a:r>
            <a:r>
              <a:rPr lang="ru-RU" dirty="0" err="1">
                <a:solidFill>
                  <a:srgbClr val="5D25BA"/>
                </a:solidFill>
              </a:rPr>
              <a:t>ВШМОиМИ</a:t>
            </a:r>
            <a:r>
              <a:rPr lang="ru-RU" dirty="0">
                <a:solidFill>
                  <a:srgbClr val="5D25BA"/>
                </a:solidFill>
              </a:rPr>
              <a:t> </a:t>
            </a:r>
            <a:r>
              <a:rPr lang="ru-RU" dirty="0" err="1">
                <a:solidFill>
                  <a:srgbClr val="5D25BA"/>
                </a:solidFill>
              </a:rPr>
              <a:t>ИМОИиВ</a:t>
            </a:r>
            <a:r>
              <a:rPr lang="ru-RU" dirty="0">
                <a:solidFill>
                  <a:srgbClr val="5D25BA"/>
                </a:solidFill>
              </a:rPr>
              <a:t>, гр. 04.2-110, Закирова Н., </a:t>
            </a:r>
            <a:r>
              <a:rPr lang="ru-RU" dirty="0" err="1">
                <a:solidFill>
                  <a:srgbClr val="5D25BA"/>
                </a:solidFill>
              </a:rPr>
              <a:t>ВШМОиМИ</a:t>
            </a:r>
            <a:r>
              <a:rPr lang="ru-RU" dirty="0">
                <a:solidFill>
                  <a:srgbClr val="5D25BA"/>
                </a:solidFill>
              </a:rPr>
              <a:t> </a:t>
            </a:r>
            <a:r>
              <a:rPr lang="ru-RU" dirty="0" err="1">
                <a:solidFill>
                  <a:srgbClr val="5D25BA"/>
                </a:solidFill>
              </a:rPr>
              <a:t>ИМОИиВ</a:t>
            </a:r>
            <a:r>
              <a:rPr lang="ru-RU" dirty="0">
                <a:solidFill>
                  <a:srgbClr val="5D25BA"/>
                </a:solidFill>
              </a:rPr>
              <a:t>, гр. 04.2.110, </a:t>
            </a:r>
            <a:r>
              <a:rPr lang="ru-RU" dirty="0" err="1">
                <a:solidFill>
                  <a:srgbClr val="5D25BA"/>
                </a:solidFill>
              </a:rPr>
              <a:t>Уракшиева</a:t>
            </a:r>
            <a:r>
              <a:rPr lang="ru-RU" dirty="0">
                <a:solidFill>
                  <a:srgbClr val="5D25BA"/>
                </a:solidFill>
              </a:rPr>
              <a:t> С., </a:t>
            </a:r>
            <a:r>
              <a:rPr lang="ru-RU" dirty="0" err="1">
                <a:solidFill>
                  <a:srgbClr val="5D25BA"/>
                </a:solidFill>
              </a:rPr>
              <a:t>ВШМОиМИ</a:t>
            </a:r>
            <a:r>
              <a:rPr lang="ru-RU" dirty="0">
                <a:solidFill>
                  <a:srgbClr val="5D25BA"/>
                </a:solidFill>
              </a:rPr>
              <a:t> </a:t>
            </a:r>
            <a:r>
              <a:rPr lang="ru-RU" dirty="0" err="1">
                <a:solidFill>
                  <a:srgbClr val="5D25BA"/>
                </a:solidFill>
              </a:rPr>
              <a:t>ИМОИиВ</a:t>
            </a:r>
            <a:r>
              <a:rPr lang="ru-RU" dirty="0">
                <a:solidFill>
                  <a:srgbClr val="5D25BA"/>
                </a:solidFill>
              </a:rPr>
              <a:t>, гр. 04.2-110, Галяутдинов Р., </a:t>
            </a:r>
            <a:r>
              <a:rPr lang="ru-RU" dirty="0" err="1">
                <a:solidFill>
                  <a:srgbClr val="5D25BA"/>
                </a:solidFill>
              </a:rPr>
              <a:t>ВШМОиМИ</a:t>
            </a:r>
            <a:r>
              <a:rPr lang="ru-RU" dirty="0">
                <a:solidFill>
                  <a:srgbClr val="5D25BA"/>
                </a:solidFill>
              </a:rPr>
              <a:t> </a:t>
            </a:r>
            <a:r>
              <a:rPr lang="ru-RU" dirty="0" err="1">
                <a:solidFill>
                  <a:srgbClr val="5D25BA"/>
                </a:solidFill>
              </a:rPr>
              <a:t>ИМОИиВ</a:t>
            </a:r>
            <a:r>
              <a:rPr lang="ru-RU" dirty="0">
                <a:solidFill>
                  <a:srgbClr val="5D25BA"/>
                </a:solidFill>
              </a:rPr>
              <a:t>, гр. 04.2-305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6553F1-3281-41CF-B164-BFAC4B7500C7}"/>
              </a:ext>
            </a:extLst>
          </p:cNvPr>
          <p:cNvSpPr txBox="1"/>
          <p:nvPr/>
        </p:nvSpPr>
        <p:spPr>
          <a:xfrm>
            <a:off x="2750394" y="2773344"/>
            <a:ext cx="66912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cap="all" dirty="0">
                <a:solidFill>
                  <a:schemeClr val="bg1"/>
                </a:solidFill>
              </a:rPr>
              <a:t>Бот для рекомендации книг на английском языке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57790B0-A16C-47BB-9E2B-1B5052D339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705923" cy="588936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69564D9-C8D0-4B3B-9322-59441EF66B9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686" y="880628"/>
            <a:ext cx="1521163" cy="502595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6312CDC-A20E-4BA9-AFA0-2FB20F8816A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4685" y="963242"/>
            <a:ext cx="2597715" cy="335740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1CECE99-2B61-4751-938F-F339771D6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94051-D8E5-4DFC-9506-54447EA029BA}" type="slidenum">
              <a:rPr lang="ru-RU" smtClean="0">
                <a:solidFill>
                  <a:srgbClr val="5D25BA"/>
                </a:solidFill>
              </a:rPr>
              <a:t>1</a:t>
            </a:fld>
            <a:endParaRPr lang="ru-RU" dirty="0">
              <a:solidFill>
                <a:srgbClr val="5D25B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3629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25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202A69D-5E93-4023-B1CB-0227F74B5E59}"/>
              </a:ext>
            </a:extLst>
          </p:cNvPr>
          <p:cNvSpPr/>
          <p:nvPr/>
        </p:nvSpPr>
        <p:spPr>
          <a:xfrm>
            <a:off x="6615837" y="2391853"/>
            <a:ext cx="4583624" cy="3914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4FFCEF3-A6AE-4960-8C62-F72B1CF309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1705922" y="0"/>
            <a:ext cx="486078" cy="689674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E8D75FB-C46C-4940-A70E-A970F419BB3C}"/>
              </a:ext>
            </a:extLst>
          </p:cNvPr>
          <p:cNvSpPr txBox="1"/>
          <p:nvPr/>
        </p:nvSpPr>
        <p:spPr>
          <a:xfrm>
            <a:off x="4104553" y="683240"/>
            <a:ext cx="34968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solidFill>
                  <a:schemeClr val="bg1"/>
                </a:solidFill>
              </a:rPr>
              <a:t>Введение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57790B0-A16C-47BB-9E2B-1B5052D339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705923" cy="5889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6B388FB-7982-4F77-B944-393147D92D95}"/>
              </a:ext>
            </a:extLst>
          </p:cNvPr>
          <p:cNvSpPr txBox="1"/>
          <p:nvPr/>
        </p:nvSpPr>
        <p:spPr>
          <a:xfrm>
            <a:off x="1540517" y="1608021"/>
            <a:ext cx="2540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</a:rPr>
              <a:t>Проблема</a:t>
            </a:r>
            <a:r>
              <a:rPr lang="ru-RU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D6C22E-1DCC-4F40-9DB4-2BEB1A3C70C3}"/>
              </a:ext>
            </a:extLst>
          </p:cNvPr>
          <p:cNvSpPr txBox="1"/>
          <p:nvPr/>
        </p:nvSpPr>
        <p:spPr>
          <a:xfrm>
            <a:off x="7637399" y="1608020"/>
            <a:ext cx="2540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</a:rPr>
              <a:t>Актуальность</a:t>
            </a:r>
            <a:r>
              <a:rPr lang="ru-RU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0F3E07F-6A27-4C67-A863-7AFB04D331D1}"/>
              </a:ext>
            </a:extLst>
          </p:cNvPr>
          <p:cNvSpPr/>
          <p:nvPr/>
        </p:nvSpPr>
        <p:spPr>
          <a:xfrm>
            <a:off x="518955" y="2391854"/>
            <a:ext cx="4583624" cy="3914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B19FB1-FBB1-4637-B9DA-7C8885407877}"/>
              </a:ext>
            </a:extLst>
          </p:cNvPr>
          <p:cNvSpPr txBox="1"/>
          <p:nvPr/>
        </p:nvSpPr>
        <p:spPr>
          <a:xfrm>
            <a:off x="518955" y="2684817"/>
            <a:ext cx="463382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5D25BA"/>
                </a:solidFill>
              </a:rPr>
              <a:t>Основная проблема, которая будет решена с помощью данного бота – рекомендация литературы для читателя, исходя из его навыков владения английским языком и предпочтений каких-либо жанров. Таким образом бот создает комфортную и действенную систему, позволяющую каждому пользователю книгу, соответствующую его интересам. Данный бот помогает расширить кругозор, получить новые знания и насладиться процессом чтения разных произведений.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F36387-27BB-4ABE-9D22-FEBB392A417F}"/>
              </a:ext>
            </a:extLst>
          </p:cNvPr>
          <p:cNvSpPr txBox="1"/>
          <p:nvPr/>
        </p:nvSpPr>
        <p:spPr>
          <a:xfrm>
            <a:off x="6615836" y="2684817"/>
            <a:ext cx="458362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solidFill>
                  <a:srgbClr val="5D25BA"/>
                </a:solidFill>
              </a:rPr>
              <a:t>Использование такого бота поддерживает и обогащает знания английского языка среди читателей. Регулярное чтение англоязычных произведений укрепляет понимание текстов, расширяет лексикон и развивает восприятие английской речи. Бот быстро находит интересные произведения, значительно упрощая выбор нужной литературы. Такой бот становится ценным помощником для любого человека в современном мире, который желает улучшить владение английским языком.</a:t>
            </a:r>
          </a:p>
        </p:txBody>
      </p:sp>
      <p:sp>
        <p:nvSpPr>
          <p:cNvPr id="14" name="Номер слайда 1">
            <a:extLst>
              <a:ext uri="{FF2B5EF4-FFF2-40B4-BE49-F238E27FC236}">
                <a16:creationId xmlns:a16="http://schemas.microsoft.com/office/drawing/2014/main" id="{455A65B7-025A-40C3-9B0F-D0EE428B4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8C94051-D8E5-4DFC-9506-54447EA029BA}" type="slidenum">
              <a:rPr lang="ru-RU" smtClean="0">
                <a:solidFill>
                  <a:schemeClr val="bg1"/>
                </a:solidFill>
              </a:rPr>
              <a:t>2</a:t>
            </a:fld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9697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25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0F3E07F-6A27-4C67-A863-7AFB04D331D1}"/>
              </a:ext>
            </a:extLst>
          </p:cNvPr>
          <p:cNvSpPr/>
          <p:nvPr/>
        </p:nvSpPr>
        <p:spPr>
          <a:xfrm>
            <a:off x="461623" y="1738711"/>
            <a:ext cx="10782669" cy="12702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4FFCEF3-A6AE-4960-8C62-F72B1CF309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1705922" y="0"/>
            <a:ext cx="486078" cy="689674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E8D75FB-C46C-4940-A70E-A970F419BB3C}"/>
              </a:ext>
            </a:extLst>
          </p:cNvPr>
          <p:cNvSpPr txBox="1"/>
          <p:nvPr/>
        </p:nvSpPr>
        <p:spPr>
          <a:xfrm>
            <a:off x="4104553" y="683240"/>
            <a:ext cx="34968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solidFill>
                  <a:schemeClr val="bg1"/>
                </a:solidFill>
              </a:rPr>
              <a:t>Цель и задачи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A76FC1BF-51D8-4B5F-82A6-3A0F7989F516}"/>
              </a:ext>
            </a:extLst>
          </p:cNvPr>
          <p:cNvSpPr/>
          <p:nvPr/>
        </p:nvSpPr>
        <p:spPr>
          <a:xfrm>
            <a:off x="799613" y="1923391"/>
            <a:ext cx="1510380" cy="900887"/>
          </a:xfrm>
          <a:prstGeom prst="rect">
            <a:avLst/>
          </a:prstGeom>
          <a:solidFill>
            <a:srgbClr val="5D25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57790B0-A16C-47BB-9E2B-1B5052D339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705923" cy="588936"/>
          </a:xfrm>
          <a:prstGeom prst="rect">
            <a:avLst/>
          </a:prstGeom>
        </p:spPr>
      </p:pic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2412CC5-3E37-4016-B667-9DDCBE22EF31}"/>
              </a:ext>
            </a:extLst>
          </p:cNvPr>
          <p:cNvSpPr/>
          <p:nvPr/>
        </p:nvSpPr>
        <p:spPr>
          <a:xfrm>
            <a:off x="461623" y="3378324"/>
            <a:ext cx="10782669" cy="25134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F3061B-7873-4CA5-A3E6-EA32A70E091B}"/>
              </a:ext>
            </a:extLst>
          </p:cNvPr>
          <p:cNvSpPr txBox="1"/>
          <p:nvPr/>
        </p:nvSpPr>
        <p:spPr>
          <a:xfrm>
            <a:off x="2684795" y="2094876"/>
            <a:ext cx="8355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solidFill>
                  <a:srgbClr val="5D25BA"/>
                </a:solidFill>
              </a:rPr>
              <a:t>Упростить поиск нужной литературы для читателей, в соответствии с их навыками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B19FB1-FBB1-4637-B9DA-7C8885407877}"/>
              </a:ext>
            </a:extLst>
          </p:cNvPr>
          <p:cNvSpPr txBox="1"/>
          <p:nvPr/>
        </p:nvSpPr>
        <p:spPr>
          <a:xfrm>
            <a:off x="1025608" y="2189168"/>
            <a:ext cx="1058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Цель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687F728-B758-448D-A5E2-B1E0EBAC4F72}"/>
              </a:ext>
            </a:extLst>
          </p:cNvPr>
          <p:cNvGrpSpPr/>
          <p:nvPr/>
        </p:nvGrpSpPr>
        <p:grpSpPr>
          <a:xfrm>
            <a:off x="799613" y="4184617"/>
            <a:ext cx="1510380" cy="900887"/>
            <a:chOff x="731423" y="4295641"/>
            <a:chExt cx="1510380" cy="900887"/>
          </a:xfrm>
        </p:grpSpPr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85A52754-19FA-4E4B-B2B6-EB8C6C787B17}"/>
                </a:ext>
              </a:extLst>
            </p:cNvPr>
            <p:cNvSpPr/>
            <p:nvPr/>
          </p:nvSpPr>
          <p:spPr>
            <a:xfrm>
              <a:off x="731423" y="4295641"/>
              <a:ext cx="1510380" cy="900887"/>
            </a:xfrm>
            <a:prstGeom prst="rect">
              <a:avLst/>
            </a:prstGeom>
            <a:solidFill>
              <a:srgbClr val="5D25B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E5EAFB3-E50B-4D3D-94FC-AE3295E6CC3B}"/>
                </a:ext>
              </a:extLst>
            </p:cNvPr>
            <p:cNvSpPr txBox="1"/>
            <p:nvPr/>
          </p:nvSpPr>
          <p:spPr>
            <a:xfrm>
              <a:off x="957418" y="4517211"/>
              <a:ext cx="10583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>
                  <a:solidFill>
                    <a:schemeClr val="bg1"/>
                  </a:solidFill>
                </a:rPr>
                <a:t>Задачи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C74FAC19-2D6D-4A2E-BD6C-0016C96E5D6B}"/>
              </a:ext>
            </a:extLst>
          </p:cNvPr>
          <p:cNvSpPr txBox="1"/>
          <p:nvPr/>
        </p:nvSpPr>
        <p:spPr>
          <a:xfrm>
            <a:off x="2684795" y="3448373"/>
            <a:ext cx="835557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dirty="0">
              <a:solidFill>
                <a:srgbClr val="5D25BA"/>
              </a:solidFill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25BA"/>
              </a:buClr>
              <a:buSzPts val="1800"/>
              <a:buFont typeface="Calibri"/>
              <a:buChar char="-"/>
            </a:pPr>
            <a:r>
              <a:rPr lang="ru-RU" sz="1800" b="0" i="0" u="none" strike="noStrike" cap="none" dirty="0">
                <a:solidFill>
                  <a:srgbClr val="5D25BA"/>
                </a:solidFill>
                <a:latin typeface="Calibri"/>
                <a:ea typeface="Calibri"/>
                <a:cs typeface="Calibri"/>
                <a:sym typeface="Calibri"/>
              </a:rPr>
              <a:t>Найти базы произведений;</a:t>
            </a:r>
            <a:endParaRPr lang="ru-RU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25BA"/>
              </a:buClr>
              <a:buSzPts val="1800"/>
              <a:buFont typeface="Calibri"/>
              <a:buChar char="-"/>
            </a:pPr>
            <a:r>
              <a:rPr lang="ru-RU" sz="1800" b="0" i="0" u="none" strike="noStrike" cap="none" dirty="0">
                <a:solidFill>
                  <a:srgbClr val="5D25BA"/>
                </a:solidFill>
                <a:latin typeface="Calibri"/>
                <a:ea typeface="Calibri"/>
                <a:cs typeface="Calibri"/>
                <a:sym typeface="Calibri"/>
              </a:rPr>
              <a:t>Описать алгоритм работы телеграм-бота;</a:t>
            </a:r>
            <a:endParaRPr lang="ru-RU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25BA"/>
              </a:buClr>
              <a:buSzPts val="1800"/>
              <a:buFont typeface="Calibri"/>
              <a:buChar char="-"/>
            </a:pPr>
            <a:r>
              <a:rPr lang="ru-RU" sz="1800" b="0" i="0" u="none" strike="noStrike" cap="none" dirty="0">
                <a:solidFill>
                  <a:srgbClr val="5D25BA"/>
                </a:solidFill>
                <a:latin typeface="Calibri"/>
                <a:ea typeface="Calibri"/>
                <a:cs typeface="Calibri"/>
                <a:sym typeface="Calibri"/>
              </a:rPr>
              <a:t>Определить технологический стек;</a:t>
            </a:r>
            <a:endParaRPr lang="ru-RU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25BA"/>
              </a:buClr>
              <a:buSzPts val="1800"/>
              <a:buFont typeface="Calibri"/>
              <a:buChar char="-"/>
            </a:pPr>
            <a:r>
              <a:rPr lang="ru-RU" sz="1800" b="0" i="0" u="none" strike="noStrike" cap="none" dirty="0">
                <a:solidFill>
                  <a:srgbClr val="5D25BA"/>
                </a:solidFill>
                <a:latin typeface="Calibri"/>
                <a:ea typeface="Calibri"/>
                <a:cs typeface="Calibri"/>
                <a:sym typeface="Calibri"/>
              </a:rPr>
              <a:t>Создать телеграм-бота;</a:t>
            </a:r>
            <a:endParaRPr lang="ru-RU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25BA"/>
              </a:buClr>
              <a:buSzPts val="1800"/>
              <a:buFont typeface="Calibri"/>
              <a:buChar char="-"/>
            </a:pPr>
            <a:r>
              <a:rPr lang="ru-RU" sz="1800" b="0" i="0" u="none" strike="noStrike" cap="none" dirty="0">
                <a:solidFill>
                  <a:srgbClr val="5D25BA"/>
                </a:solidFill>
                <a:latin typeface="Calibri"/>
                <a:ea typeface="Calibri"/>
                <a:cs typeface="Calibri"/>
                <a:sym typeface="Calibri"/>
              </a:rPr>
              <a:t>Интегрировать API в телеграм-бота;</a:t>
            </a:r>
            <a:endParaRPr lang="ru-RU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25BA"/>
              </a:buClr>
              <a:buSzPts val="1800"/>
              <a:buFont typeface="Calibri"/>
              <a:buChar char="-"/>
            </a:pPr>
            <a:r>
              <a:rPr lang="ru-RU" sz="1800" b="0" i="0" u="none" strike="noStrike" cap="none" dirty="0">
                <a:solidFill>
                  <a:srgbClr val="5D25BA"/>
                </a:solidFill>
                <a:latin typeface="Calibri"/>
                <a:ea typeface="Calibri"/>
                <a:cs typeface="Calibri"/>
                <a:sym typeface="Calibri"/>
              </a:rPr>
              <a:t>Отразить основные проблемы, возникшие в ходе разработки, и их решения.</a:t>
            </a:r>
            <a:endParaRPr lang="ru-RU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Номер слайда 1">
            <a:extLst>
              <a:ext uri="{FF2B5EF4-FFF2-40B4-BE49-F238E27FC236}">
                <a16:creationId xmlns:a16="http://schemas.microsoft.com/office/drawing/2014/main" id="{96A108E1-9ED0-4603-93DD-588C7E936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8C94051-D8E5-4DFC-9506-54447EA029BA}" type="slidenum">
              <a:rPr lang="ru-RU" smtClean="0">
                <a:solidFill>
                  <a:schemeClr val="bg1"/>
                </a:solidFill>
              </a:rPr>
              <a:t>3</a:t>
            </a:fld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7651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25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4FFCEF3-A6AE-4960-8C62-F72B1CF309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1705922" y="0"/>
            <a:ext cx="486078" cy="689674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E8D75FB-C46C-4940-A70E-A970F419BB3C}"/>
              </a:ext>
            </a:extLst>
          </p:cNvPr>
          <p:cNvSpPr txBox="1"/>
          <p:nvPr/>
        </p:nvSpPr>
        <p:spPr>
          <a:xfrm>
            <a:off x="1386614" y="698738"/>
            <a:ext cx="94187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solidFill>
                  <a:schemeClr val="bg1"/>
                </a:solidFill>
              </a:rPr>
              <a:t>Алгоритм работы телеграмм-бота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57790B0-A16C-47BB-9E2B-1B5052D339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705923" cy="5889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6B388FB-7982-4F77-B944-393147D92D95}"/>
              </a:ext>
            </a:extLst>
          </p:cNvPr>
          <p:cNvSpPr txBox="1"/>
          <p:nvPr/>
        </p:nvSpPr>
        <p:spPr>
          <a:xfrm>
            <a:off x="917765" y="1345069"/>
            <a:ext cx="10356467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indent="450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</a:pPr>
            <a:r>
              <a:rPr lang="ru-RU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Пошаговая инструкция пользования нашим ботом: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AutoNum type="arabicParenR"/>
            </a:pPr>
            <a:r>
              <a:rPr lang="ru-RU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Для начала работы пользователь запускает бота командой /</a:t>
            </a:r>
            <a:r>
              <a:rPr lang="ru-RU" sz="18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start</a:t>
            </a:r>
            <a:r>
              <a:rPr lang="ru-RU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 Результат: </a:t>
            </a:r>
            <a:r>
              <a:rPr lang="ru-RU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б</a:t>
            </a:r>
            <a:r>
              <a:rPr lang="ru-RU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от приветствует пользователя и предлагает воспользоваться следующей командой </a:t>
            </a: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/books</a:t>
            </a:r>
            <a:r>
              <a:rPr lang="ru-RU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; </a:t>
            </a:r>
            <a:endParaRPr lang="ru-RU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AutoNum type="arabicParenR"/>
            </a:pPr>
            <a:r>
              <a:rPr lang="ru-RU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 помощью команды /</a:t>
            </a: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books</a:t>
            </a:r>
            <a:r>
              <a:rPr lang="ru-RU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телеграмм-бот информирует пользователя о необходимом выборе уровня владения языком. Результат:</a:t>
            </a:r>
          </a:p>
          <a:p>
            <a:pPr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</a:pPr>
            <a:endParaRPr lang="ru-RU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</a:pPr>
            <a:endParaRPr lang="ru-RU"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</a:pPr>
            <a:endParaRPr lang="ru-RU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</a:pPr>
            <a:endParaRPr lang="ru-RU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+mj-lt"/>
              <a:buAutoNum type="arabicParenR" startAt="3"/>
            </a:pPr>
            <a:r>
              <a:rPr lang="ru-RU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Далее бот предлагает пользователю выбор из книг, которые уже классифицированы по жанрам. Результат: 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+mj-lt"/>
              <a:buAutoNum type="arabicParenR" startAt="3"/>
            </a:pPr>
            <a:endParaRPr lang="ru-RU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+mj-lt"/>
              <a:buAutoNum type="arabicParenR" startAt="3"/>
            </a:pPr>
            <a:endParaRPr lang="ru-RU"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+mj-lt"/>
              <a:buAutoNum type="arabicParenR" startAt="3"/>
            </a:pPr>
            <a:endParaRPr lang="ru-RU"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</a:pPr>
            <a:endParaRPr lang="ru-RU"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AutoNum type="arabicParenR" startAt="3"/>
            </a:pPr>
            <a:r>
              <a:rPr lang="ru-RU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Команда /h</a:t>
            </a:r>
            <a:r>
              <a:rPr lang="en-US" sz="18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elp</a:t>
            </a: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u-RU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выводит на устройство все существующие команды бота;</a:t>
            </a:r>
            <a:endParaRPr lang="ru-RU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AutoNum type="arabicParenR" startAt="3"/>
            </a:pPr>
            <a:r>
              <a:rPr lang="ru-RU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После отправки команды </a:t>
            </a: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/info</a:t>
            </a:r>
            <a:r>
              <a:rPr lang="ru-RU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пользователь может ознакомиться с информацией о боте;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AutoNum type="arabicParenR" startAt="3"/>
            </a:pPr>
            <a:r>
              <a:rPr lang="ru-RU" dirty="0">
                <a:solidFill>
                  <a:schemeClr val="lt1"/>
                </a:solidFill>
                <a:latin typeface="Calibri"/>
                <a:ea typeface="Arial"/>
                <a:cs typeface="Calibri"/>
                <a:sym typeface="Calibri"/>
              </a:rPr>
              <a:t>Для перезапуска бота или для смены уровня владения языком, например, если ботом воспользуется другой человек с одного устройства, необходимо вновь запустить бота с помощью команды </a:t>
            </a:r>
            <a:r>
              <a:rPr lang="en-US" dirty="0">
                <a:solidFill>
                  <a:schemeClr val="lt1"/>
                </a:solidFill>
                <a:latin typeface="Calibri"/>
                <a:ea typeface="Arial"/>
                <a:cs typeface="Calibri"/>
                <a:sym typeface="Calibri"/>
              </a:rPr>
              <a:t>/start</a:t>
            </a:r>
            <a:r>
              <a:rPr lang="ru-RU" dirty="0">
                <a:solidFill>
                  <a:schemeClr val="lt1"/>
                </a:solidFill>
                <a:latin typeface="Calibri"/>
                <a:ea typeface="Arial"/>
                <a:cs typeface="Calibri"/>
                <a:sym typeface="Calibri"/>
              </a:rPr>
              <a:t>;</a:t>
            </a:r>
            <a:endParaRPr lang="ru-RU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9" name="Номер слайда 1">
            <a:extLst>
              <a:ext uri="{FF2B5EF4-FFF2-40B4-BE49-F238E27FC236}">
                <a16:creationId xmlns:a16="http://schemas.microsoft.com/office/drawing/2014/main" id="{B7495E36-005F-4865-8155-1BECF338C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8C94051-D8E5-4DFC-9506-54447EA029BA}" type="slidenum">
              <a:rPr lang="ru-RU" smtClean="0">
                <a:solidFill>
                  <a:schemeClr val="bg1"/>
                </a:solidFill>
              </a:rPr>
              <a:t>4</a:t>
            </a:fld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39AD643-E84C-90A9-7C89-0E236C8437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6614" y="2735931"/>
            <a:ext cx="2940530" cy="818563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C43ACAD7-2E8F-BC1F-964A-59759FC1B3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6614" y="4200825"/>
            <a:ext cx="2551610" cy="103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932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25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4FFCEF3-A6AE-4960-8C62-F72B1CF309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1705922" y="0"/>
            <a:ext cx="486078" cy="689674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E8D75FB-C46C-4940-A70E-A970F419BB3C}"/>
              </a:ext>
            </a:extLst>
          </p:cNvPr>
          <p:cNvSpPr txBox="1"/>
          <p:nvPr/>
        </p:nvSpPr>
        <p:spPr>
          <a:xfrm>
            <a:off x="1386614" y="698738"/>
            <a:ext cx="94187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solidFill>
                  <a:schemeClr val="bg1"/>
                </a:solidFill>
              </a:rPr>
              <a:t>Технологический стек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57790B0-A16C-47BB-9E2B-1B5052D339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705923" cy="5889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6B388FB-7982-4F77-B944-393147D92D95}"/>
              </a:ext>
            </a:extLst>
          </p:cNvPr>
          <p:cNvSpPr txBox="1"/>
          <p:nvPr/>
        </p:nvSpPr>
        <p:spPr>
          <a:xfrm>
            <a:off x="917765" y="1882793"/>
            <a:ext cx="103564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lt1"/>
                </a:solidFill>
                <a:ea typeface="Times New Roman"/>
                <a:cs typeface="Times New Roman"/>
                <a:sym typeface="Times New Roman"/>
              </a:rPr>
              <a:t>Осно</a:t>
            </a:r>
            <a:r>
              <a:rPr lang="ru-RU" dirty="0">
                <a:solidFill>
                  <a:schemeClr val="lt1"/>
                </a:solidFill>
                <a:ea typeface="Times New Roman"/>
                <a:cs typeface="Times New Roman"/>
                <a:sym typeface="Times New Roman"/>
              </a:rPr>
              <a:t>вными инструментами для разработки бота послужили:</a:t>
            </a: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lt1"/>
                </a:solidFill>
                <a:ea typeface="Times New Roman"/>
                <a:cs typeface="Times New Roman"/>
                <a:sym typeface="Times New Roman"/>
              </a:rPr>
              <a:t>Язык программирования: </a:t>
            </a:r>
            <a:r>
              <a:rPr lang="en-US" dirty="0">
                <a:solidFill>
                  <a:schemeClr val="lt1"/>
                </a:solidFill>
                <a:ea typeface="Times New Roman"/>
                <a:cs typeface="Times New Roman"/>
                <a:sym typeface="Times New Roman"/>
              </a:rPr>
              <a:t>Python. Python </a:t>
            </a:r>
            <a:r>
              <a:rPr lang="ru-RU" dirty="0">
                <a:solidFill>
                  <a:schemeClr val="lt1"/>
                </a:solidFill>
                <a:ea typeface="Times New Roman"/>
                <a:cs typeface="Times New Roman"/>
                <a:sym typeface="Times New Roman"/>
              </a:rPr>
              <a:t>широко используется в интернет-приложениях, для разработки программных обеспечений и т. д.</a:t>
            </a: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lt1"/>
                </a:solidFill>
                <a:ea typeface="Times New Roman"/>
                <a:cs typeface="Times New Roman"/>
                <a:sym typeface="Times New Roman"/>
              </a:rPr>
              <a:t>Библиотека: </a:t>
            </a:r>
            <a:r>
              <a:rPr lang="en-US" dirty="0" err="1">
                <a:solidFill>
                  <a:schemeClr val="lt1"/>
                </a:solidFill>
                <a:ea typeface="Times New Roman"/>
                <a:cs typeface="Times New Roman"/>
                <a:sym typeface="Times New Roman"/>
              </a:rPr>
              <a:t>telebot</a:t>
            </a:r>
            <a:r>
              <a:rPr lang="en-US" dirty="0">
                <a:solidFill>
                  <a:schemeClr val="lt1"/>
                </a:solidFill>
                <a:ea typeface="Times New Roman"/>
                <a:cs typeface="Times New Roman"/>
                <a:sym typeface="Times New Roman"/>
              </a:rPr>
              <a:t>.</a:t>
            </a:r>
            <a:r>
              <a:rPr lang="ru-RU" dirty="0">
                <a:solidFill>
                  <a:schemeClr val="lt1"/>
                </a:solidFill>
                <a:ea typeface="Times New Roman"/>
                <a:cs typeface="Times New Roman"/>
                <a:sym typeface="Times New Roman"/>
              </a:rPr>
              <a:t> Библиотека использовалась для того, чтобы взаимодействовать с </a:t>
            </a:r>
            <a:r>
              <a:rPr lang="en-US" dirty="0" err="1">
                <a:solidFill>
                  <a:schemeClr val="lt1"/>
                </a:solidFill>
                <a:ea typeface="Times New Roman"/>
                <a:cs typeface="Times New Roman"/>
                <a:sym typeface="Times New Roman"/>
              </a:rPr>
              <a:t>TelegramAPI</a:t>
            </a:r>
            <a:r>
              <a:rPr lang="en-US" dirty="0">
                <a:solidFill>
                  <a:schemeClr val="lt1"/>
                </a:solidFill>
                <a:ea typeface="Times New Roman"/>
                <a:cs typeface="Times New Roman"/>
                <a:sym typeface="Times New Roman"/>
              </a:rPr>
              <a:t> (</a:t>
            </a:r>
            <a:r>
              <a:rPr lang="en-US" dirty="0" err="1">
                <a:solidFill>
                  <a:schemeClr val="lt1"/>
                </a:solidFill>
                <a:ea typeface="Times New Roman"/>
                <a:cs typeface="Times New Roman"/>
                <a:sym typeface="Times New Roman"/>
              </a:rPr>
              <a:t>pyTelegramBotAPI</a:t>
            </a:r>
            <a:r>
              <a:rPr lang="en-US" dirty="0">
                <a:solidFill>
                  <a:schemeClr val="lt1"/>
                </a:solidFill>
                <a:ea typeface="Times New Roman"/>
                <a:cs typeface="Times New Roman"/>
                <a:sym typeface="Times New Roman"/>
              </a:rPr>
              <a:t>)</a:t>
            </a:r>
            <a:endParaRPr lang="ru-RU" dirty="0">
              <a:solidFill>
                <a:schemeClr val="lt1"/>
              </a:solidFill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lt1"/>
                </a:solidFill>
                <a:ea typeface="Times New Roman"/>
                <a:cs typeface="Times New Roman"/>
                <a:sym typeface="Times New Roman"/>
              </a:rPr>
              <a:t>Модуль: </a:t>
            </a:r>
            <a:r>
              <a:rPr lang="en-US" dirty="0">
                <a:solidFill>
                  <a:schemeClr val="lt1"/>
                </a:solidFill>
                <a:ea typeface="Times New Roman"/>
                <a:cs typeface="Times New Roman"/>
                <a:sym typeface="Times New Roman"/>
              </a:rPr>
              <a:t>types. </a:t>
            </a:r>
            <a:r>
              <a:rPr lang="ru-RU" dirty="0">
                <a:solidFill>
                  <a:schemeClr val="lt1"/>
                </a:solidFill>
                <a:ea typeface="Times New Roman"/>
                <a:cs typeface="Times New Roman"/>
                <a:sym typeface="Times New Roman"/>
              </a:rPr>
              <a:t>Модуль определяет типы сообщений и объекты внутри </a:t>
            </a:r>
            <a:r>
              <a:rPr lang="en-US" dirty="0" err="1">
                <a:solidFill>
                  <a:schemeClr val="lt1"/>
                </a:solidFill>
                <a:ea typeface="Times New Roman"/>
                <a:cs typeface="Times New Roman"/>
                <a:sym typeface="Times New Roman"/>
              </a:rPr>
              <a:t>TeleBot</a:t>
            </a:r>
            <a:r>
              <a:rPr lang="en-US" dirty="0">
                <a:solidFill>
                  <a:schemeClr val="lt1"/>
                </a:solidFill>
                <a:ea typeface="Times New Roman"/>
                <a:cs typeface="Times New Roman"/>
                <a:sym typeface="Times New Roman"/>
              </a:rPr>
              <a:t> </a:t>
            </a:r>
            <a:endParaRPr lang="ru-RU" dirty="0">
              <a:solidFill>
                <a:schemeClr val="lt1"/>
              </a:solidFill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lt1"/>
              </a:solidFill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ru-RU" sz="18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Номер слайда 1">
            <a:extLst>
              <a:ext uri="{FF2B5EF4-FFF2-40B4-BE49-F238E27FC236}">
                <a16:creationId xmlns:a16="http://schemas.microsoft.com/office/drawing/2014/main" id="{CB5CFA98-0AD6-41E7-A361-6432A88AA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8C94051-D8E5-4DFC-9506-54447EA029BA}" type="slidenum">
              <a:rPr lang="ru-RU" smtClean="0">
                <a:solidFill>
                  <a:schemeClr val="bg1"/>
                </a:solidFill>
              </a:rPr>
              <a:t>5</a:t>
            </a:fld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7744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25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4FFCEF3-A6AE-4960-8C62-F72B1CF309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1705922" y="0"/>
            <a:ext cx="486078" cy="689674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E8D75FB-C46C-4940-A70E-A970F419BB3C}"/>
              </a:ext>
            </a:extLst>
          </p:cNvPr>
          <p:cNvSpPr txBox="1"/>
          <p:nvPr/>
        </p:nvSpPr>
        <p:spPr>
          <a:xfrm>
            <a:off x="2222187" y="683239"/>
            <a:ext cx="7747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solidFill>
                  <a:schemeClr val="bg1"/>
                </a:solidFill>
              </a:rPr>
              <a:t>Иллюстративный материал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57790B0-A16C-47BB-9E2B-1B5052D339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705923" cy="588936"/>
          </a:xfrm>
          <a:prstGeom prst="rect">
            <a:avLst/>
          </a:prstGeom>
        </p:spPr>
      </p:pic>
      <p:sp>
        <p:nvSpPr>
          <p:cNvPr id="14" name="Номер слайда 1">
            <a:extLst>
              <a:ext uri="{FF2B5EF4-FFF2-40B4-BE49-F238E27FC236}">
                <a16:creationId xmlns:a16="http://schemas.microsoft.com/office/drawing/2014/main" id="{3D4DC00B-0E84-4EF1-8120-EFF1639D8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8C94051-D8E5-4DFC-9506-54447EA029BA}" type="slidenum">
              <a:rPr lang="ru-RU" smtClean="0">
                <a:solidFill>
                  <a:schemeClr val="bg1"/>
                </a:solidFill>
              </a:rPr>
              <a:t>6</a:t>
            </a:fld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0BB1B2E-425E-06B2-CCEC-390A4A07D9A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28" t="10441" r="2720"/>
          <a:stretch/>
        </p:blipFill>
        <p:spPr>
          <a:xfrm>
            <a:off x="656948" y="1843583"/>
            <a:ext cx="3111094" cy="424169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C79FCB7-3AC9-4549-FC12-C160C8D8FA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1406" y="2090844"/>
            <a:ext cx="3545632" cy="3747173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E5E23486-7AD4-5E05-6118-06161DF71C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1042" y="2243907"/>
            <a:ext cx="3694010" cy="3472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490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25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4FFCEF3-A6AE-4960-8C62-F72B1CF309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1705922" y="0"/>
            <a:ext cx="486078" cy="689674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E8D75FB-C46C-4940-A70E-A970F419BB3C}"/>
              </a:ext>
            </a:extLst>
          </p:cNvPr>
          <p:cNvSpPr txBox="1"/>
          <p:nvPr/>
        </p:nvSpPr>
        <p:spPr>
          <a:xfrm>
            <a:off x="2222187" y="683239"/>
            <a:ext cx="7747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solidFill>
                  <a:schemeClr val="bg1"/>
                </a:solidFill>
              </a:rPr>
              <a:t>Иллюстративный материал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57790B0-A16C-47BB-9E2B-1B5052D339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705923" cy="588936"/>
          </a:xfrm>
          <a:prstGeom prst="rect">
            <a:avLst/>
          </a:prstGeom>
        </p:spPr>
      </p:pic>
      <p:sp>
        <p:nvSpPr>
          <p:cNvPr id="10" name="Номер слайда 1">
            <a:extLst>
              <a:ext uri="{FF2B5EF4-FFF2-40B4-BE49-F238E27FC236}">
                <a16:creationId xmlns:a16="http://schemas.microsoft.com/office/drawing/2014/main" id="{5C1CA754-3480-4E2F-B433-3A2B305BF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8C94051-D8E5-4DFC-9506-54447EA029BA}" type="slidenum">
              <a:rPr lang="ru-RU" smtClean="0">
                <a:solidFill>
                  <a:schemeClr val="bg1"/>
                </a:solidFill>
              </a:rPr>
              <a:t>7</a:t>
            </a:fld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8B84900-101C-30D1-4ABC-3D26B7EF3B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728" y="1844899"/>
            <a:ext cx="3348314" cy="414654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B34FFC5-D959-1726-5F6C-0049EF1F64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5066" y="1844900"/>
            <a:ext cx="3627267" cy="414654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2F13B5B-E8E7-D058-C945-4D0AD8EA1D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1482" y="2254333"/>
            <a:ext cx="3422957" cy="3327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033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25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4FFCEF3-A6AE-4960-8C62-F72B1CF309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1705922" y="0"/>
            <a:ext cx="486078" cy="689674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E8D75FB-C46C-4940-A70E-A970F419BB3C}"/>
              </a:ext>
            </a:extLst>
          </p:cNvPr>
          <p:cNvSpPr txBox="1"/>
          <p:nvPr/>
        </p:nvSpPr>
        <p:spPr>
          <a:xfrm>
            <a:off x="1386614" y="698738"/>
            <a:ext cx="94187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>
                <a:solidFill>
                  <a:schemeClr val="bg1"/>
                </a:solidFill>
              </a:rPr>
              <a:t>Трудности </a:t>
            </a:r>
            <a:r>
              <a:rPr lang="ru-RU" sz="3600" dirty="0">
                <a:solidFill>
                  <a:schemeClr val="bg1"/>
                </a:solidFill>
              </a:rPr>
              <a:t>и решения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57790B0-A16C-47BB-9E2B-1B5052D339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705923" cy="5889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6B388FB-7982-4F77-B944-393147D92D95}"/>
              </a:ext>
            </a:extLst>
          </p:cNvPr>
          <p:cNvSpPr txBox="1"/>
          <p:nvPr/>
        </p:nvSpPr>
        <p:spPr>
          <a:xfrm>
            <a:off x="674727" y="1460599"/>
            <a:ext cx="1035646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000"/>
            <a:r>
              <a:rPr lang="ru-RU" dirty="0">
                <a:solidFill>
                  <a:schemeClr val="bg1"/>
                </a:solidFill>
              </a:rPr>
              <a:t>С написанием Telegram-бота мы столкнулись впервые и даже подумать не могли, что это окажется настолько сложной задачей. Но при погружении в процесс создания бота это занятие становится увлекательным и интересным — настолько интересным, что на некоторые трудности и вовсе не обращаешь внимания. </a:t>
            </a:r>
          </a:p>
          <a:p>
            <a:pPr indent="450000">
              <a:buNone/>
            </a:pPr>
            <a:r>
              <a:rPr lang="ru-RU" dirty="0">
                <a:solidFill>
                  <a:schemeClr val="bg1"/>
                </a:solidFill>
              </a:rPr>
              <a:t>Одна из сложнейших задач заключалась не в написании самого бота, а в том, чтобы решить, каким будет его интерфейс. Затем встал вопрос, какую библиотеку использовать в нашем боте? Выбор пал на библиотеку </a:t>
            </a:r>
            <a:r>
              <a:rPr lang="ru-RU" dirty="0" err="1">
                <a:solidFill>
                  <a:schemeClr val="bg1"/>
                </a:solidFill>
              </a:rPr>
              <a:t>telebot</a:t>
            </a:r>
            <a:r>
              <a:rPr lang="ru-RU" dirty="0">
                <a:solidFill>
                  <a:schemeClr val="bg1"/>
                </a:solidFill>
              </a:rPr>
              <a:t>, поскольку она предлагает довольно удобные функции, идеально подходящие именно для нашего проекта, по сравнению с другими аналогичными решениями.</a:t>
            </a:r>
          </a:p>
          <a:p>
            <a:pPr indent="450000">
              <a:buNone/>
            </a:pPr>
            <a:r>
              <a:rPr lang="ru-RU" dirty="0">
                <a:solidFill>
                  <a:schemeClr val="bg1"/>
                </a:solidFill>
              </a:rPr>
              <a:t>Также существует проблема в непостоянстве работы бота из-за ограничений бесплатного сервера, решением стало информирование пользователя о временных ограничениях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и </a:t>
            </a:r>
            <a:r>
              <a:rPr lang="ru-RU" dirty="0" err="1">
                <a:solidFill>
                  <a:schemeClr val="bg1"/>
                </a:solidFill>
              </a:rPr>
              <a:t>автоперезапуск</a:t>
            </a:r>
            <a:r>
              <a:rPr lang="ru-RU" dirty="0">
                <a:solidFill>
                  <a:schemeClr val="bg1"/>
                </a:solidFill>
              </a:rPr>
              <a:t> бота на сервере.</a:t>
            </a:r>
          </a:p>
          <a:p>
            <a:pPr indent="450000">
              <a:buNone/>
            </a:pPr>
            <a:r>
              <a:rPr lang="ru-RU" dirty="0">
                <a:solidFill>
                  <a:schemeClr val="bg1"/>
                </a:solidFill>
              </a:rPr>
              <a:t>Еще одна проблема возникла при размещении бота на сервере: дело в том, что бот одновременно работал на локальной машине и хостинге. Однако решение этой ситуации оказалось проще, чем ожидалось: нужно было просто завершить выполнение программы на локальном сервере.</a:t>
            </a:r>
          </a:p>
          <a:p>
            <a:pPr indent="450000"/>
            <a:r>
              <a:rPr lang="ru-RU" dirty="0">
                <a:solidFill>
                  <a:schemeClr val="bg1"/>
                </a:solidFill>
              </a:rPr>
              <a:t>Впоследствии мы, безусловно, намерены развивать функциональность своего бота через подключение к базам данных, расширяя таким образом ассортимент предлагаемых литературных произведений.</a:t>
            </a:r>
          </a:p>
          <a:p>
            <a:endParaRPr lang="ru-RU" dirty="0"/>
          </a:p>
        </p:txBody>
      </p:sp>
      <p:sp>
        <p:nvSpPr>
          <p:cNvPr id="6" name="Номер слайда 1">
            <a:extLst>
              <a:ext uri="{FF2B5EF4-FFF2-40B4-BE49-F238E27FC236}">
                <a16:creationId xmlns:a16="http://schemas.microsoft.com/office/drawing/2014/main" id="{CB5CFA98-0AD6-41E7-A361-6432A88AA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8C94051-D8E5-4DFC-9506-54447EA029BA}" type="slidenum">
              <a:rPr lang="ru-RU" smtClean="0">
                <a:solidFill>
                  <a:schemeClr val="bg1"/>
                </a:solidFill>
              </a:rPr>
              <a:t>8</a:t>
            </a:fld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1388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4FFCEF3-A6AE-4960-8C62-F72B1CF309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1705922" y="0"/>
            <a:ext cx="486078" cy="689674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56553F1-3281-41CF-B164-BFAC4B7500C7}"/>
              </a:ext>
            </a:extLst>
          </p:cNvPr>
          <p:cNvSpPr txBox="1"/>
          <p:nvPr/>
        </p:nvSpPr>
        <p:spPr>
          <a:xfrm>
            <a:off x="1881947" y="3010978"/>
            <a:ext cx="84281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5400" cap="all" dirty="0">
                <a:solidFill>
                  <a:srgbClr val="5D25BA"/>
                </a:solidFill>
              </a:rPr>
              <a:t>Спасибо за внимание!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57790B0-A16C-47BB-9E2B-1B5052D339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705923" cy="588936"/>
          </a:xfrm>
          <a:prstGeom prst="rect">
            <a:avLst/>
          </a:prstGeom>
        </p:spPr>
      </p:pic>
      <p:sp>
        <p:nvSpPr>
          <p:cNvPr id="11" name="Номер слайда 1">
            <a:extLst>
              <a:ext uri="{FF2B5EF4-FFF2-40B4-BE49-F238E27FC236}">
                <a16:creationId xmlns:a16="http://schemas.microsoft.com/office/drawing/2014/main" id="{3EE709CE-0135-4BCB-B683-645B6B5B9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8C94051-D8E5-4DFC-9506-54447EA029BA}" type="slidenum">
              <a:rPr lang="ru-RU" smtClean="0">
                <a:solidFill>
                  <a:srgbClr val="5D25BA"/>
                </a:solidFill>
              </a:rPr>
              <a:t>9</a:t>
            </a:fld>
            <a:endParaRPr lang="ru-RU" dirty="0">
              <a:solidFill>
                <a:srgbClr val="5D25B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632998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версия 3_ЦИФРОВОЙ ПЕРЕВОДЧИК Презентация (недостающая инормация выделена желтым) (1)" id="{7FE758A1-9B64-4365-9D01-80EE6C78591B}" vid="{0BB4E0DC-C2A4-4991-990A-C8C6DA2BD52B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шаблон презентации для ЦОР</Template>
  <TotalTime>234</TotalTime>
  <Words>643</Words>
  <Application>Microsoft Office PowerPoint</Application>
  <PresentationFormat>Широкоэкранный</PresentationFormat>
  <Paragraphs>59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Алексеева Лада Игоревна</dc:creator>
  <cp:lastModifiedBy>Марат Саттаров</cp:lastModifiedBy>
  <cp:revision>9</cp:revision>
  <dcterms:created xsi:type="dcterms:W3CDTF">2025-01-15T10:27:37Z</dcterms:created>
  <dcterms:modified xsi:type="dcterms:W3CDTF">2025-04-19T12:28:15Z</dcterms:modified>
</cp:coreProperties>
</file>